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14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Успешность, %</c:v>
          </c:tx>
          <c:spPr>
            <a:solidFill>
              <a:srgbClr val="3D8DFF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Создание</c:v>
              </c:pt>
              <c:pt idx="1">
                <c:v>Редактирование</c:v>
              </c:pt>
              <c:pt idx="2">
                <c:v>Поиск</c:v>
              </c:pt>
              <c:pt idx="3">
                <c:v>Удаление</c:v>
              </c:pt>
            </c:strLit>
          </c:cat>
          <c:val>
            <c:numLit>
              <c:formatCode>General</c:formatCode>
              <c:ptCount val="4"/>
              <c:pt idx="0">
                <c:v>100</c:v>
              </c:pt>
              <c:pt idx="1">
                <c:v>100</c:v>
              </c:pt>
              <c:pt idx="2">
                <c:v>75</c:v>
              </c:pt>
              <c:pt idx="3">
                <c:v>100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5B17-4373-9867-118631459C2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B8BCC4"/>
            </a:solidFill>
            <a:prstDash val="solid"/>
          </a:ln>
        </c:spPr>
        <c:txPr>
          <a:bodyPr anchorCtr="1"/>
          <a:lstStyle/>
          <a:p>
            <a:pPr>
              <a:defRPr sz="11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ru-RU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w="9525">
              <a:solidFill>
                <a:srgbClr val="EDEDED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0">
            <a:solidFill>
              <a:srgbClr val="FFFFFF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ru-RU"/>
          </a:p>
        </c:txPr>
        <c:crossAx val="48650112"/>
        <c:crosses val="autoZero"/>
        <c:crossBetween val="between"/>
        <c:majorUnit val="25"/>
      </c:valAx>
      <c:spPr>
        <a:noFill/>
        <a:ln w="0">
          <a:solidFill>
            <a:srgbClr val="FFFFFF"/>
          </a:solidFill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-Shape-532-p58-2">
            <a:extLst>
              <a:ext uri="{FF2B5EF4-FFF2-40B4-BE49-F238E27FC236}">
                <a16:creationId xmlns:a16="http://schemas.microsoft.com/office/drawing/2014/main" id="{ACA33E93-0636-49F7-B7C0-DAB7E389F673}"/>
              </a:ext>
            </a:extLst>
          </p:cNvPr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/>
          <a:p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</a:t>
            </a:r>
          </a:p>
        </p:txBody>
      </p:sp>
      <p:sp>
        <p:nvSpPr>
          <p:cNvPr id="2" name="Google-Shape-533-p58-3">
            <a:extLst>
              <a:ext uri="{FF2B5EF4-FFF2-40B4-BE49-F238E27FC236}">
                <a16:creationId xmlns:a16="http://schemas.microsoft.com/office/drawing/2014/main" id="{CF5FE571-E747-449F-A569-FC485CD89564}"/>
              </a:ext>
            </a:extLst>
          </p:cNvPr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Юзабилити</a:t>
            </a:r>
            <a:r>
              <a:rPr sz="31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3150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приложения</a:t>
            </a:r>
            <a:r>
              <a:rPr sz="31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
«</a:t>
            </a:r>
            <a:r>
              <a:rPr sz="3150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Деловые</a:t>
            </a:r>
            <a:r>
              <a:rPr sz="31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3150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заметки</a:t>
            </a:r>
            <a:r>
              <a:rPr sz="31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»</a:t>
            </a:r>
          </a:p>
        </p:txBody>
      </p:sp>
      <p:sp>
        <p:nvSpPr>
          <p:cNvPr id="3" name="Picture-3-4-backing">
            <a:extLst>
              <a:ext uri="{FF2B5EF4-FFF2-40B4-BE49-F238E27FC236}">
                <a16:creationId xmlns:a16="http://schemas.microsoft.com/office/drawing/2014/main" id="{6C50B388-789B-4278-8E3D-F5F0061D3E9D}"/>
              </a:ext>
            </a:extLst>
          </p:cNvPr>
          <p:cNvSpPr>
            <a:spLocks noGrp="1"/>
          </p:cNvSpPr>
          <p:nvPr/>
        </p:nvSpPr>
        <p:spPr>
          <a:xfrm>
            <a:off x="6269069" y="396431"/>
            <a:ext cx="5539740" cy="5602034"/>
          </a:xfrm>
          <a:prstGeom prst="roundRect">
            <a:avLst>
              <a:gd name="adj" fmla="val 1376"/>
            </a:avLst>
          </a:prstGeom>
          <a:solidFill>
            <a:srgbClr val="EAF5FB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5" name="Google-Shape-534-p58-5">
            <a:extLst>
              <a:ext uri="{FF2B5EF4-FFF2-40B4-BE49-F238E27FC236}">
                <a16:creationId xmlns:a16="http://schemas.microsoft.com/office/drawing/2014/main" id="{0E017230-2725-4DC0-B400-75D1A672C3C8}"/>
              </a:ext>
            </a:extLst>
          </p:cNvPr>
          <p:cNvSpPr>
            <a:spLocks noGrp="1"/>
          </p:cNvSpPr>
          <p:nvPr/>
        </p:nvSpPr>
        <p:spPr>
          <a:xfrm>
            <a:off x="393668" y="2031968"/>
            <a:ext cx="5537168" cy="39624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9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Цель</a:t>
            </a:r>
            <a:r>
              <a:rPr sz="19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950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проверки</a:t>
            </a:r>
            <a:endParaRPr sz="1950" b="1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Оценить</a:t>
            </a:r>
            <a:r>
              <a:rPr sz="17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, </a:t>
            </a:r>
            <a:r>
              <a:rPr sz="17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насколько</a:t>
            </a:r>
            <a:r>
              <a:rPr sz="17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7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быстро</a:t>
            </a:r>
            <a:r>
              <a:rPr sz="17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7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пользователь</a:t>
            </a:r>
            <a:r>
              <a:rPr sz="17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7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создает</a:t>
            </a:r>
            <a:r>
              <a:rPr sz="17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, </a:t>
            </a:r>
            <a:r>
              <a:rPr sz="17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находит</a:t>
            </a:r>
            <a:r>
              <a:rPr sz="17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, </a:t>
            </a:r>
            <a:r>
              <a:rPr sz="17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изменяет</a:t>
            </a:r>
            <a:r>
              <a:rPr sz="17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и </a:t>
            </a:r>
            <a:r>
              <a:rPr sz="17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удаляет</a:t>
            </a:r>
            <a:r>
              <a:rPr sz="17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7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деловую</a:t>
            </a:r>
            <a:r>
              <a:rPr sz="17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7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заметку</a:t>
            </a:r>
            <a:r>
              <a:rPr sz="17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 </a:t>
            </a:r>
            <a:r>
              <a:rPr sz="17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Формат</a:t>
            </a:r>
            <a:r>
              <a:rPr sz="17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ru-RU" sz="17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–</a:t>
            </a:r>
            <a:r>
              <a:rPr sz="17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ru-RU" sz="1725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тестовый </a:t>
            </a:r>
            <a:r>
              <a:rPr sz="17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прогон</a:t>
            </a:r>
            <a:r>
              <a:rPr sz="17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7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перед</a:t>
            </a:r>
            <a:r>
              <a:rPr sz="17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7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очным</a:t>
            </a:r>
            <a:r>
              <a:rPr sz="17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7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тестированием</a:t>
            </a:r>
            <a:r>
              <a:rPr sz="17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66804F5-6476-8478-F8CA-5F78E61093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4965" y="1391507"/>
            <a:ext cx="3917175" cy="3607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1456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-Number-Placeholder-3-2">
            <a:extLst>
              <a:ext uri="{FF2B5EF4-FFF2-40B4-BE49-F238E27FC236}">
                <a16:creationId xmlns:a16="http://schemas.microsoft.com/office/drawing/2014/main" id="{BFAB5922-DD3A-486A-A87F-95EDEBBD5D5E}"/>
              </a:ext>
            </a:extLst>
          </p:cNvPr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lIns="0" tIns="0" rIns="0" bIns="0" anchor="b"/>
          <a:lstStyle/>
          <a:p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2" name="Title-10-3">
            <a:extLst>
              <a:ext uri="{FF2B5EF4-FFF2-40B4-BE49-F238E27FC236}">
                <a16:creationId xmlns:a16="http://schemas.microsoft.com/office/drawing/2014/main" id="{764836F5-DA23-44E2-9904-C73A63F6CEBC}"/>
              </a:ext>
            </a:extLst>
          </p:cNvPr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Три</a:t>
            </a:r>
            <a:r>
              <a:rPr sz="2925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925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этапа</a:t>
            </a:r>
            <a:r>
              <a:rPr sz="2925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925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проверки</a:t>
            </a:r>
            <a:r>
              <a:rPr sz="2925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925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охватывают</a:t>
            </a:r>
            <a:r>
              <a:rPr sz="2925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925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весь</a:t>
            </a:r>
            <a:r>
              <a:rPr sz="2925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925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жизненный</a:t>
            </a:r>
            <a:r>
              <a:rPr sz="2925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925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цикл</a:t>
            </a:r>
            <a:r>
              <a:rPr sz="2925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925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заметки</a:t>
            </a:r>
            <a:endParaRPr sz="2925" b="1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5" name="Google-Shape-2259-p159-4"/>
          <p:cNvCxnSpPr/>
          <p:nvPr/>
        </p:nvCxnSpPr>
        <p:spPr>
          <a:xfrm>
            <a:off x="337757" y="3373755"/>
            <a:ext cx="11460480" cy="286"/>
          </a:xfrm>
          <a:prstGeom prst="straightConnector1">
            <a:avLst/>
          </a:prstGeom>
          <a:ln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>
              <a:ext uri="{FF2B5EF4-FFF2-40B4-BE49-F238E27FC236}">
                <a16:creationId xmlns:a16="http://schemas.microsoft.com/office/drawing/2014/main" id="{30B7967F-F5BC-4AFC-9795-371F95B207A3}"/>
              </a:ext>
            </a:extLst>
          </p:cNvPr>
          <p:cNvSpPr>
            <a:spLocks noGrp="1"/>
          </p:cNvSpPr>
          <p:nvPr/>
        </p:nvSpPr>
        <p:spPr>
          <a:xfrm>
            <a:off x="337757" y="3320225"/>
            <a:ext cx="107061" cy="107061"/>
          </a:xfrm>
          <a:prstGeom prst="ellipse">
            <a:avLst/>
          </a:prstGeom>
          <a:solidFill>
            <a:srgbClr val="000000"/>
          </a:solidFill>
        </p:spPr>
      </p:sp>
      <p:sp>
        <p:nvSpPr>
          <p:cNvPr id="5" name="Google-Shape-2261-p159-6">
            <a:extLst>
              <a:ext uri="{FF2B5EF4-FFF2-40B4-BE49-F238E27FC236}">
                <a16:creationId xmlns:a16="http://schemas.microsoft.com/office/drawing/2014/main" id="{F6440B95-5077-418C-BCB0-CB095C0AEB13}"/>
              </a:ext>
            </a:extLst>
          </p:cNvPr>
          <p:cNvSpPr>
            <a:spLocks noGrp="1"/>
          </p:cNvSpPr>
          <p:nvPr/>
        </p:nvSpPr>
        <p:spPr>
          <a:xfrm>
            <a:off x="4251770" y="3320225"/>
            <a:ext cx="107061" cy="107061"/>
          </a:xfrm>
          <a:prstGeom prst="ellipse">
            <a:avLst/>
          </a:prstGeom>
          <a:solidFill>
            <a:srgbClr val="000000"/>
          </a:solidFill>
        </p:spPr>
      </p:sp>
      <p:sp>
        <p:nvSpPr>
          <p:cNvPr id="6" name="Google-Shape-2262-p159-7">
            <a:extLst>
              <a:ext uri="{FF2B5EF4-FFF2-40B4-BE49-F238E27FC236}">
                <a16:creationId xmlns:a16="http://schemas.microsoft.com/office/drawing/2014/main" id="{0B682964-2C15-4F02-8D27-D33EF12FA7CF}"/>
              </a:ext>
            </a:extLst>
          </p:cNvPr>
          <p:cNvSpPr>
            <a:spLocks noGrp="1"/>
          </p:cNvSpPr>
          <p:nvPr/>
        </p:nvSpPr>
        <p:spPr>
          <a:xfrm>
            <a:off x="8176070" y="3320225"/>
            <a:ext cx="107061" cy="107061"/>
          </a:xfrm>
          <a:prstGeom prst="ellipse">
            <a:avLst/>
          </a:prstGeom>
          <a:solidFill>
            <a:srgbClr val="000000"/>
          </a:solidFill>
        </p:spPr>
      </p:sp>
      <p:sp>
        <p:nvSpPr>
          <p:cNvPr id="7" name="Content-Placeholder-15-8">
            <a:extLst>
              <a:ext uri="{FF2B5EF4-FFF2-40B4-BE49-F238E27FC236}">
                <a16:creationId xmlns:a16="http://schemas.microsoft.com/office/drawing/2014/main" id="{B37A6749-6BAA-4A49-BB24-F14BF7AFF012}"/>
              </a:ext>
            </a:extLst>
          </p:cNvPr>
          <p:cNvSpPr>
            <a:spLocks noGrp="1"/>
          </p:cNvSpPr>
          <p:nvPr/>
        </p:nvSpPr>
        <p:spPr>
          <a:xfrm>
            <a:off x="393668" y="2843308"/>
            <a:ext cx="1612868" cy="26241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ЭТАП 1</a:t>
            </a:r>
          </a:p>
        </p:txBody>
      </p:sp>
      <p:sp>
        <p:nvSpPr>
          <p:cNvPr id="8" name="Content-Placeholder-15-9">
            <a:extLst>
              <a:ext uri="{FF2B5EF4-FFF2-40B4-BE49-F238E27FC236}">
                <a16:creationId xmlns:a16="http://schemas.microsoft.com/office/drawing/2014/main" id="{64960ABB-F128-420A-8EEB-009CF7EBE914}"/>
              </a:ext>
            </a:extLst>
          </p:cNvPr>
          <p:cNvSpPr>
            <a:spLocks noGrp="1"/>
          </p:cNvSpPr>
          <p:nvPr/>
        </p:nvSpPr>
        <p:spPr>
          <a:xfrm>
            <a:off x="4294156" y="2843308"/>
            <a:ext cx="1612868" cy="26241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ЭТАП 2</a:t>
            </a:r>
          </a:p>
        </p:txBody>
      </p:sp>
      <p:sp>
        <p:nvSpPr>
          <p:cNvPr id="9" name="Content-Placeholder-15-10">
            <a:extLst>
              <a:ext uri="{FF2B5EF4-FFF2-40B4-BE49-F238E27FC236}">
                <a16:creationId xmlns:a16="http://schemas.microsoft.com/office/drawing/2014/main" id="{4FB0240D-8011-4F52-AF8C-62DC28E06E74}"/>
              </a:ext>
            </a:extLst>
          </p:cNvPr>
          <p:cNvSpPr>
            <a:spLocks noGrp="1"/>
          </p:cNvSpPr>
          <p:nvPr/>
        </p:nvSpPr>
        <p:spPr>
          <a:xfrm>
            <a:off x="8223218" y="2843308"/>
            <a:ext cx="1612868" cy="26241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ЭТАП 3</a:t>
            </a:r>
          </a:p>
        </p:txBody>
      </p:sp>
      <p:sp>
        <p:nvSpPr>
          <p:cNvPr id="10" name="Text-Placeholder-16-11">
            <a:extLst>
              <a:ext uri="{FF2B5EF4-FFF2-40B4-BE49-F238E27FC236}">
                <a16:creationId xmlns:a16="http://schemas.microsoft.com/office/drawing/2014/main" id="{125F2909-4785-4CC1-9AA3-43C4B33AE1DC}"/>
              </a:ext>
            </a:extLst>
          </p:cNvPr>
          <p:cNvSpPr>
            <a:spLocks noGrp="1"/>
          </p:cNvSpPr>
          <p:nvPr/>
        </p:nvSpPr>
        <p:spPr>
          <a:xfrm>
            <a:off x="4317111" y="3822668"/>
            <a:ext cx="3156109" cy="158629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Реальные</a:t>
            </a:r>
            <a:r>
              <a:rPr sz="1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задачи</a:t>
            </a:r>
            <a:endParaRPr sz="1800" b="1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Создать</a:t>
            </a:r>
            <a:r>
              <a:rPr sz="14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заметку</a:t>
            </a:r>
            <a:r>
              <a:rPr sz="14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; </a:t>
            </a:r>
            <a:r>
              <a:rPr sz="14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изменить</a:t>
            </a:r>
            <a:r>
              <a:rPr sz="14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текст</a:t>
            </a:r>
            <a:r>
              <a:rPr sz="14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; </a:t>
            </a:r>
            <a:r>
              <a:rPr sz="14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найти</a:t>
            </a:r>
            <a:r>
              <a:rPr sz="14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запись</a:t>
            </a:r>
            <a:r>
              <a:rPr sz="14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; </a:t>
            </a:r>
            <a:r>
              <a:rPr sz="14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удалить</a:t>
            </a:r>
            <a:r>
              <a:rPr sz="14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ее</a:t>
            </a:r>
            <a:r>
              <a:rPr sz="14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; </a:t>
            </a:r>
            <a:r>
              <a:rPr sz="14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проверить</a:t>
            </a:r>
            <a:r>
              <a:rPr sz="14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сохранение</a:t>
            </a:r>
            <a:r>
              <a:rPr sz="14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после</a:t>
            </a:r>
            <a:r>
              <a:rPr sz="14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перезапуска</a:t>
            </a:r>
            <a:r>
              <a:rPr lang="ru-RU" sz="14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приложения</a:t>
            </a:r>
            <a:r>
              <a:rPr sz="14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1" name="Text-Placeholder-16-12">
            <a:extLst>
              <a:ext uri="{FF2B5EF4-FFF2-40B4-BE49-F238E27FC236}">
                <a16:creationId xmlns:a16="http://schemas.microsoft.com/office/drawing/2014/main" id="{B3B14052-76AC-445E-8259-1E87FACF94D4}"/>
              </a:ext>
            </a:extLst>
          </p:cNvPr>
          <p:cNvSpPr>
            <a:spLocks noGrp="1"/>
          </p:cNvSpPr>
          <p:nvPr/>
        </p:nvSpPr>
        <p:spPr>
          <a:xfrm>
            <a:off x="399859" y="3822668"/>
            <a:ext cx="3156109" cy="158629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Цель</a:t>
            </a:r>
            <a:r>
              <a:rPr sz="1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и </a:t>
            </a:r>
            <a:r>
              <a:rPr sz="1800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профили</a:t>
            </a:r>
            <a:endParaRPr sz="1800" b="1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 </a:t>
            </a:r>
            <a:r>
              <a:rPr sz="14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профиля</a:t>
            </a:r>
            <a:r>
              <a:rPr sz="14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: </a:t>
            </a:r>
            <a:r>
              <a:rPr sz="14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офисный</a:t>
            </a:r>
            <a:r>
              <a:rPr sz="14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сотрудник</a:t>
            </a:r>
            <a:r>
              <a:rPr sz="14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, </a:t>
            </a:r>
            <a:r>
              <a:rPr sz="14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руководитель</a:t>
            </a:r>
            <a:r>
              <a:rPr sz="14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, </a:t>
            </a:r>
            <a:r>
              <a:rPr sz="14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секретарь</a:t>
            </a:r>
            <a:r>
              <a:rPr sz="14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и ИТ-</a:t>
            </a:r>
            <a:r>
              <a:rPr sz="14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специалист</a:t>
            </a:r>
            <a:r>
              <a:rPr sz="14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2" name="Text-Placeholder-16-13">
            <a:extLst>
              <a:ext uri="{FF2B5EF4-FFF2-40B4-BE49-F238E27FC236}">
                <a16:creationId xmlns:a16="http://schemas.microsoft.com/office/drawing/2014/main" id="{CF2E4568-4A01-4BA9-A143-CACAFC3BD10D}"/>
              </a:ext>
            </a:extLst>
          </p:cNvPr>
          <p:cNvSpPr>
            <a:spLocks noGrp="1"/>
          </p:cNvSpPr>
          <p:nvPr/>
        </p:nvSpPr>
        <p:spPr>
          <a:xfrm>
            <a:off x="8177879" y="3822668"/>
            <a:ext cx="3156109" cy="158629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Наблюдения</a:t>
            </a:r>
            <a:endParaRPr sz="1800" b="1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Успе</a:t>
            </a:r>
            <a:r>
              <a:rPr lang="ru-RU" sz="14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х</a:t>
            </a:r>
            <a:r>
              <a:rPr sz="14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с </a:t>
            </a:r>
            <a:r>
              <a:rPr sz="14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первой</a:t>
            </a:r>
            <a:r>
              <a:rPr sz="14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попытки</a:t>
            </a:r>
            <a:r>
              <a:rPr sz="14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, </a:t>
            </a:r>
            <a:r>
              <a:rPr sz="14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время</a:t>
            </a:r>
            <a:r>
              <a:rPr sz="14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, </a:t>
            </a:r>
            <a:r>
              <a:rPr sz="14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ошибки</a:t>
            </a:r>
            <a:r>
              <a:rPr sz="14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, </a:t>
            </a:r>
            <a:r>
              <a:rPr sz="14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комментарии</a:t>
            </a:r>
            <a:r>
              <a:rPr sz="14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и </a:t>
            </a:r>
            <a:r>
              <a:rPr sz="14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понятность</a:t>
            </a:r>
            <a:r>
              <a:rPr sz="14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двух</a:t>
            </a:r>
            <a:r>
              <a:rPr sz="14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способов</a:t>
            </a:r>
            <a:r>
              <a:rPr sz="14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хранения</a:t>
            </a:r>
            <a:r>
              <a:rPr sz="14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260175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sults-title">
            <a:extLst>
              <a:ext uri="{FF2B5EF4-FFF2-40B4-BE49-F238E27FC236}">
                <a16:creationId xmlns:a16="http://schemas.microsoft.com/office/drawing/2014/main" id="{45B1436C-CD54-480E-B811-94A93FBD4BAE}"/>
              </a:ext>
            </a:extLst>
          </p:cNvPr>
          <p:cNvSpPr>
            <a:spLocks noGrp="1"/>
          </p:cNvSpPr>
          <p:nvPr/>
        </p:nvSpPr>
        <p:spPr>
          <a:xfrm>
            <a:off x="400050" y="304800"/>
            <a:ext cx="1138237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9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Поиск</a:t>
            </a:r>
            <a:r>
              <a:rPr sz="2925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ru-RU" sz="2925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–</a:t>
            </a:r>
            <a:r>
              <a:rPr sz="2925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925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единственная</a:t>
            </a:r>
            <a:r>
              <a:rPr sz="2925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925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задача</a:t>
            </a:r>
            <a:r>
              <a:rPr sz="2925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, </a:t>
            </a:r>
            <a:r>
              <a:rPr sz="2925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потребовавшая</a:t>
            </a:r>
            <a:r>
              <a:rPr sz="2925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925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повторной</a:t>
            </a:r>
            <a:r>
              <a:rPr sz="2925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925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попытки</a:t>
            </a:r>
            <a:endParaRPr sz="2925" b="1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15" name="Chart"/>
          <p:cNvGraphicFramePr/>
          <p:nvPr>
            <p:extLst>
              <p:ext uri="{D42A27DB-BD31-4B8C-83A1-F6EECF244321}">
                <p14:modId xmlns:p14="http://schemas.microsoft.com/office/powerpoint/2010/main" val="2107742670"/>
              </p:ext>
            </p:extLst>
          </p:nvPr>
        </p:nvGraphicFramePr>
        <p:xfrm>
          <a:off x="6334125" y="1533525"/>
          <a:ext cx="5286375" cy="4333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result-card-1">
            <a:extLst>
              <a:ext uri="{FF2B5EF4-FFF2-40B4-BE49-F238E27FC236}">
                <a16:creationId xmlns:a16="http://schemas.microsoft.com/office/drawing/2014/main" id="{CA8F38BE-4D11-423B-A0E1-C9CB6998139C}"/>
              </a:ext>
            </a:extLst>
          </p:cNvPr>
          <p:cNvSpPr>
            <a:spLocks noGrp="1"/>
          </p:cNvSpPr>
          <p:nvPr/>
        </p:nvSpPr>
        <p:spPr>
          <a:xfrm>
            <a:off x="571500" y="1533525"/>
            <a:ext cx="5429250" cy="1352550"/>
          </a:xfrm>
          <a:prstGeom prst="roundRect">
            <a:avLst>
              <a:gd name="adj" fmla="val 8451"/>
            </a:avLst>
          </a:prstGeom>
          <a:solidFill>
            <a:srgbClr val="EDEDED"/>
          </a:solidFill>
          <a:ln w="0">
            <a:solidFill>
              <a:srgbClr val="EDEDED"/>
            </a:solidFill>
            <a:prstDash val="solid"/>
          </a:ln>
        </p:spPr>
      </p:sp>
      <p:sp>
        <p:nvSpPr>
          <p:cNvPr id="4" name="result-card-title-1">
            <a:extLst>
              <a:ext uri="{FF2B5EF4-FFF2-40B4-BE49-F238E27FC236}">
                <a16:creationId xmlns:a16="http://schemas.microsoft.com/office/drawing/2014/main" id="{6E711F5B-9A7B-46AA-B5E8-1687D305B148}"/>
              </a:ext>
            </a:extLst>
          </p:cNvPr>
          <p:cNvSpPr>
            <a:spLocks noGrp="1"/>
          </p:cNvSpPr>
          <p:nvPr/>
        </p:nvSpPr>
        <p:spPr>
          <a:xfrm>
            <a:off x="857250" y="1724025"/>
            <a:ext cx="4857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4/4 функции</a:t>
            </a:r>
          </a:p>
        </p:txBody>
      </p:sp>
      <p:sp>
        <p:nvSpPr>
          <p:cNvPr id="5" name="result-card-body-1">
            <a:extLst>
              <a:ext uri="{FF2B5EF4-FFF2-40B4-BE49-F238E27FC236}">
                <a16:creationId xmlns:a16="http://schemas.microsoft.com/office/drawing/2014/main" id="{300278EE-5682-4046-816A-1CD56D3FCA34}"/>
              </a:ext>
            </a:extLst>
          </p:cNvPr>
          <p:cNvSpPr>
            <a:spLocks noGrp="1"/>
          </p:cNvSpPr>
          <p:nvPr/>
        </p:nvSpPr>
        <p:spPr>
          <a:xfrm>
            <a:off x="857250" y="2085975"/>
            <a:ext cx="4857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CRUD-операции выполняются без потери данных.</a:t>
            </a:r>
          </a:p>
        </p:txBody>
      </p:sp>
      <p:sp>
        <p:nvSpPr>
          <p:cNvPr id="6" name="result-card-2">
            <a:extLst>
              <a:ext uri="{FF2B5EF4-FFF2-40B4-BE49-F238E27FC236}">
                <a16:creationId xmlns:a16="http://schemas.microsoft.com/office/drawing/2014/main" id="{E766B719-79C9-4C8E-AB86-D7A2B0848530}"/>
              </a:ext>
            </a:extLst>
          </p:cNvPr>
          <p:cNvSpPr>
            <a:spLocks noGrp="1"/>
          </p:cNvSpPr>
          <p:nvPr/>
        </p:nvSpPr>
        <p:spPr>
          <a:xfrm>
            <a:off x="571500" y="3073325"/>
            <a:ext cx="5429250" cy="1352550"/>
          </a:xfrm>
          <a:prstGeom prst="roundRect">
            <a:avLst>
              <a:gd name="adj" fmla="val 8451"/>
            </a:avLst>
          </a:prstGeom>
          <a:solidFill>
            <a:srgbClr val="EDEDED"/>
          </a:solidFill>
          <a:ln w="0">
            <a:solidFill>
              <a:srgbClr val="EDEDED"/>
            </a:solidFill>
            <a:prstDash val="solid"/>
          </a:ln>
        </p:spPr>
      </p:sp>
      <p:sp>
        <p:nvSpPr>
          <p:cNvPr id="7" name="result-card-title-2">
            <a:extLst>
              <a:ext uri="{FF2B5EF4-FFF2-40B4-BE49-F238E27FC236}">
                <a16:creationId xmlns:a16="http://schemas.microsoft.com/office/drawing/2014/main" id="{C22F8356-9E7B-44AE-8011-342D89947FE3}"/>
              </a:ext>
            </a:extLst>
          </p:cNvPr>
          <p:cNvSpPr>
            <a:spLocks noGrp="1"/>
          </p:cNvSpPr>
          <p:nvPr/>
        </p:nvSpPr>
        <p:spPr>
          <a:xfrm>
            <a:off x="857250" y="3263825"/>
            <a:ext cx="4857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1 затруднение</a:t>
            </a:r>
          </a:p>
        </p:txBody>
      </p:sp>
      <p:sp>
        <p:nvSpPr>
          <p:cNvPr id="8" name="result-card-body-2">
            <a:extLst>
              <a:ext uri="{FF2B5EF4-FFF2-40B4-BE49-F238E27FC236}">
                <a16:creationId xmlns:a16="http://schemas.microsoft.com/office/drawing/2014/main" id="{2EF3C285-12BE-4242-B3AB-25B35F4B9426}"/>
              </a:ext>
            </a:extLst>
          </p:cNvPr>
          <p:cNvSpPr>
            <a:spLocks noGrp="1"/>
          </p:cNvSpPr>
          <p:nvPr/>
        </p:nvSpPr>
        <p:spPr>
          <a:xfrm>
            <a:off x="857250" y="3625775"/>
            <a:ext cx="4857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Область поиска по дате и хранилищу не сразу очевидна.</a:t>
            </a:r>
          </a:p>
        </p:txBody>
      </p:sp>
      <p:sp>
        <p:nvSpPr>
          <p:cNvPr id="9" name="result-card-3">
            <a:extLst>
              <a:ext uri="{FF2B5EF4-FFF2-40B4-BE49-F238E27FC236}">
                <a16:creationId xmlns:a16="http://schemas.microsoft.com/office/drawing/2014/main" id="{0A0DA97E-58FF-45DD-8DCC-2342F1068BB1}"/>
              </a:ext>
            </a:extLst>
          </p:cNvPr>
          <p:cNvSpPr>
            <a:spLocks noGrp="1"/>
          </p:cNvSpPr>
          <p:nvPr/>
        </p:nvSpPr>
        <p:spPr>
          <a:xfrm>
            <a:off x="571500" y="4613125"/>
            <a:ext cx="5429250" cy="1352550"/>
          </a:xfrm>
          <a:prstGeom prst="roundRect">
            <a:avLst>
              <a:gd name="adj" fmla="val 8451"/>
            </a:avLst>
          </a:prstGeom>
          <a:solidFill>
            <a:srgbClr val="EDEDED"/>
          </a:solidFill>
          <a:ln w="0">
            <a:solidFill>
              <a:srgbClr val="EDEDED"/>
            </a:solidFill>
            <a:prstDash val="solid"/>
          </a:ln>
        </p:spPr>
      </p:sp>
      <p:sp>
        <p:nvSpPr>
          <p:cNvPr id="10" name="result-card-title-3">
            <a:extLst>
              <a:ext uri="{FF2B5EF4-FFF2-40B4-BE49-F238E27FC236}">
                <a16:creationId xmlns:a16="http://schemas.microsoft.com/office/drawing/2014/main" id="{FAAFB1C2-453D-4132-AA74-1EF363F002AD}"/>
              </a:ext>
            </a:extLst>
          </p:cNvPr>
          <p:cNvSpPr>
            <a:spLocks noGrp="1"/>
          </p:cNvSpPr>
          <p:nvPr/>
        </p:nvSpPr>
        <p:spPr>
          <a:xfrm>
            <a:off x="857250" y="4803625"/>
            <a:ext cx="4857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2 хранилища</a:t>
            </a:r>
          </a:p>
        </p:txBody>
      </p:sp>
      <p:sp>
        <p:nvSpPr>
          <p:cNvPr id="11" name="result-card-body-3">
            <a:extLst>
              <a:ext uri="{FF2B5EF4-FFF2-40B4-BE49-F238E27FC236}">
                <a16:creationId xmlns:a16="http://schemas.microsoft.com/office/drawing/2014/main" id="{44861B23-9ED8-494F-9A4A-9DBFBE9E6C47}"/>
              </a:ext>
            </a:extLst>
          </p:cNvPr>
          <p:cNvSpPr>
            <a:spLocks noGrp="1"/>
          </p:cNvSpPr>
          <p:nvPr/>
        </p:nvSpPr>
        <p:spPr>
          <a:xfrm>
            <a:off x="857250" y="5165575"/>
            <a:ext cx="4857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SQLite и JSON-файлы обозначены в списке заметок.</a:t>
            </a:r>
          </a:p>
        </p:txBody>
      </p:sp>
      <p:sp>
        <p:nvSpPr>
          <p:cNvPr id="13" name="results-page">
            <a:extLst>
              <a:ext uri="{FF2B5EF4-FFF2-40B4-BE49-F238E27FC236}">
                <a16:creationId xmlns:a16="http://schemas.microsoft.com/office/drawing/2014/main" id="{04C97E21-9EFA-47EF-BB30-AC6539981E1E}"/>
              </a:ext>
            </a:extLst>
          </p:cNvPr>
          <p:cNvSpPr>
            <a:spLocks noGrp="1"/>
          </p:cNvSpPr>
          <p:nvPr/>
        </p:nvSpPr>
        <p:spPr>
          <a:xfrm>
            <a:off x="11287125" y="621030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0169139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-Number-Placeholder-3-2">
            <a:extLst>
              <a:ext uri="{FF2B5EF4-FFF2-40B4-BE49-F238E27FC236}">
                <a16:creationId xmlns:a16="http://schemas.microsoft.com/office/drawing/2014/main" id="{A24D1A6D-CEC2-4451-B8FA-84CD80A5941B}"/>
              </a:ext>
            </a:extLst>
          </p:cNvPr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lIns="0" tIns="0" rIns="0" bIns="0" anchor="b"/>
          <a:lstStyle/>
          <a:p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2" name="Title-10-3">
            <a:extLst>
              <a:ext uri="{FF2B5EF4-FFF2-40B4-BE49-F238E27FC236}">
                <a16:creationId xmlns:a16="http://schemas.microsoft.com/office/drawing/2014/main" id="{5B878FBC-4DDE-41FE-A9EF-1156B6A39D9C}"/>
              </a:ext>
            </a:extLst>
          </p:cNvPr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Три</a:t>
            </a:r>
            <a:r>
              <a:rPr sz="2925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925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улучшения</a:t>
            </a:r>
            <a:r>
              <a:rPr sz="2925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925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сокращают</a:t>
            </a:r>
            <a:r>
              <a:rPr sz="2925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925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время</a:t>
            </a:r>
            <a:r>
              <a:rPr sz="2925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925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поиска</a:t>
            </a:r>
            <a:r>
              <a:rPr sz="2925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и </a:t>
            </a:r>
            <a:r>
              <a:rPr sz="2925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риск</a:t>
            </a:r>
            <a:r>
              <a:rPr sz="2925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925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потери</a:t>
            </a:r>
            <a:r>
              <a:rPr sz="2925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925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записи</a:t>
            </a:r>
            <a:endParaRPr sz="2925" b="1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5" name="Google-Shape-2259-p159-4"/>
          <p:cNvCxnSpPr/>
          <p:nvPr/>
        </p:nvCxnSpPr>
        <p:spPr>
          <a:xfrm>
            <a:off x="337757" y="3373755"/>
            <a:ext cx="11460480" cy="286"/>
          </a:xfrm>
          <a:prstGeom prst="straightConnector1">
            <a:avLst/>
          </a:prstGeom>
          <a:ln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>
              <a:ext uri="{FF2B5EF4-FFF2-40B4-BE49-F238E27FC236}">
                <a16:creationId xmlns:a16="http://schemas.microsoft.com/office/drawing/2014/main" id="{D177C6B3-6F13-46CB-BDB9-EDA6AE6A44E4}"/>
              </a:ext>
            </a:extLst>
          </p:cNvPr>
          <p:cNvSpPr>
            <a:spLocks noGrp="1"/>
          </p:cNvSpPr>
          <p:nvPr/>
        </p:nvSpPr>
        <p:spPr>
          <a:xfrm>
            <a:off x="337757" y="3320225"/>
            <a:ext cx="107061" cy="107061"/>
          </a:xfrm>
          <a:prstGeom prst="ellipse">
            <a:avLst/>
          </a:prstGeom>
          <a:solidFill>
            <a:srgbClr val="000000"/>
          </a:solidFill>
        </p:spPr>
      </p:sp>
      <p:sp>
        <p:nvSpPr>
          <p:cNvPr id="5" name="Google-Shape-2261-p159-6">
            <a:extLst>
              <a:ext uri="{FF2B5EF4-FFF2-40B4-BE49-F238E27FC236}">
                <a16:creationId xmlns:a16="http://schemas.microsoft.com/office/drawing/2014/main" id="{D6A45FDB-2A9B-473A-9E2D-DACAEA47B1E5}"/>
              </a:ext>
            </a:extLst>
          </p:cNvPr>
          <p:cNvSpPr>
            <a:spLocks noGrp="1"/>
          </p:cNvSpPr>
          <p:nvPr/>
        </p:nvSpPr>
        <p:spPr>
          <a:xfrm>
            <a:off x="4251770" y="3320225"/>
            <a:ext cx="107061" cy="107061"/>
          </a:xfrm>
          <a:prstGeom prst="ellipse">
            <a:avLst/>
          </a:prstGeom>
          <a:solidFill>
            <a:srgbClr val="000000"/>
          </a:solidFill>
        </p:spPr>
      </p:sp>
      <p:sp>
        <p:nvSpPr>
          <p:cNvPr id="6" name="Google-Shape-2262-p159-7">
            <a:extLst>
              <a:ext uri="{FF2B5EF4-FFF2-40B4-BE49-F238E27FC236}">
                <a16:creationId xmlns:a16="http://schemas.microsoft.com/office/drawing/2014/main" id="{26DB8A0B-32E0-4170-A7B2-93A9F27F6468}"/>
              </a:ext>
            </a:extLst>
          </p:cNvPr>
          <p:cNvSpPr>
            <a:spLocks noGrp="1"/>
          </p:cNvSpPr>
          <p:nvPr/>
        </p:nvSpPr>
        <p:spPr>
          <a:xfrm>
            <a:off x="8176070" y="3320225"/>
            <a:ext cx="107061" cy="107061"/>
          </a:xfrm>
          <a:prstGeom prst="ellipse">
            <a:avLst/>
          </a:prstGeom>
          <a:solidFill>
            <a:srgbClr val="000000"/>
          </a:solidFill>
        </p:spPr>
      </p:sp>
      <p:sp>
        <p:nvSpPr>
          <p:cNvPr id="7" name="Content-Placeholder-15-8">
            <a:extLst>
              <a:ext uri="{FF2B5EF4-FFF2-40B4-BE49-F238E27FC236}">
                <a16:creationId xmlns:a16="http://schemas.microsoft.com/office/drawing/2014/main" id="{7225EC5A-8D87-4428-B4B6-D39B432251CF}"/>
              </a:ext>
            </a:extLst>
          </p:cNvPr>
          <p:cNvSpPr>
            <a:spLocks noGrp="1"/>
          </p:cNvSpPr>
          <p:nvPr/>
        </p:nvSpPr>
        <p:spPr>
          <a:xfrm>
            <a:off x="393668" y="2843308"/>
            <a:ext cx="1612868" cy="26241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ВЫСОКИЙ</a:t>
            </a:r>
          </a:p>
        </p:txBody>
      </p:sp>
      <p:sp>
        <p:nvSpPr>
          <p:cNvPr id="8" name="Content-Placeholder-15-9">
            <a:extLst>
              <a:ext uri="{FF2B5EF4-FFF2-40B4-BE49-F238E27FC236}">
                <a16:creationId xmlns:a16="http://schemas.microsoft.com/office/drawing/2014/main" id="{9315E86D-AE73-4483-BC02-196055F3E41B}"/>
              </a:ext>
            </a:extLst>
          </p:cNvPr>
          <p:cNvSpPr>
            <a:spLocks noGrp="1"/>
          </p:cNvSpPr>
          <p:nvPr/>
        </p:nvSpPr>
        <p:spPr>
          <a:xfrm>
            <a:off x="4294156" y="2843308"/>
            <a:ext cx="1612868" cy="26241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СРЕДНИЙ</a:t>
            </a:r>
          </a:p>
        </p:txBody>
      </p:sp>
      <p:sp>
        <p:nvSpPr>
          <p:cNvPr id="9" name="Content-Placeholder-15-10">
            <a:extLst>
              <a:ext uri="{FF2B5EF4-FFF2-40B4-BE49-F238E27FC236}">
                <a16:creationId xmlns:a16="http://schemas.microsoft.com/office/drawing/2014/main" id="{4F9938CF-B214-4D90-B42D-A0989D5AE5EB}"/>
              </a:ext>
            </a:extLst>
          </p:cNvPr>
          <p:cNvSpPr>
            <a:spLocks noGrp="1"/>
          </p:cNvSpPr>
          <p:nvPr/>
        </p:nvSpPr>
        <p:spPr>
          <a:xfrm>
            <a:off x="8223218" y="2843308"/>
            <a:ext cx="1612868" cy="26241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НИЗКИЙ</a:t>
            </a:r>
          </a:p>
        </p:txBody>
      </p:sp>
      <p:sp>
        <p:nvSpPr>
          <p:cNvPr id="10" name="Text-Placeholder-16-11">
            <a:extLst>
              <a:ext uri="{FF2B5EF4-FFF2-40B4-BE49-F238E27FC236}">
                <a16:creationId xmlns:a16="http://schemas.microsoft.com/office/drawing/2014/main" id="{3DF909C4-E36F-48B5-A7E8-399A60307C63}"/>
              </a:ext>
            </a:extLst>
          </p:cNvPr>
          <p:cNvSpPr>
            <a:spLocks noGrp="1"/>
          </p:cNvSpPr>
          <p:nvPr/>
        </p:nvSpPr>
        <p:spPr>
          <a:xfrm>
            <a:off x="4317111" y="3822668"/>
            <a:ext cx="3156109" cy="158629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Отмена</a:t>
            </a:r>
            <a:r>
              <a:rPr sz="1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удаления</a:t>
            </a:r>
            <a:endParaRPr sz="1800" b="1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Показывать</a:t>
            </a:r>
            <a:r>
              <a:rPr sz="14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сообщение</a:t>
            </a:r>
            <a:r>
              <a:rPr sz="14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с </a:t>
            </a:r>
            <a:r>
              <a:rPr sz="14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действием</a:t>
            </a:r>
            <a:r>
              <a:rPr sz="14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«</a:t>
            </a:r>
            <a:r>
              <a:rPr sz="14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Вернуть</a:t>
            </a:r>
            <a:r>
              <a:rPr sz="14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». </a:t>
            </a:r>
            <a:r>
              <a:rPr sz="14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Выгода</a:t>
            </a:r>
            <a:r>
              <a:rPr sz="14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: </a:t>
            </a:r>
            <a:r>
              <a:rPr sz="14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меньше</a:t>
            </a:r>
            <a:r>
              <a:rPr sz="14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случайно</a:t>
            </a:r>
            <a:r>
              <a:rPr sz="14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потерянных</a:t>
            </a:r>
            <a:r>
              <a:rPr sz="14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записей</a:t>
            </a:r>
            <a:r>
              <a:rPr sz="14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1" name="Text-Placeholder-16-12">
            <a:extLst>
              <a:ext uri="{FF2B5EF4-FFF2-40B4-BE49-F238E27FC236}">
                <a16:creationId xmlns:a16="http://schemas.microsoft.com/office/drawing/2014/main" id="{957D533C-FE33-4941-8465-8980633C080F}"/>
              </a:ext>
            </a:extLst>
          </p:cNvPr>
          <p:cNvSpPr>
            <a:spLocks noGrp="1"/>
          </p:cNvSpPr>
          <p:nvPr/>
        </p:nvSpPr>
        <p:spPr>
          <a:xfrm>
            <a:off x="399859" y="3822668"/>
            <a:ext cx="3156109" cy="158629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Явные</a:t>
            </a:r>
            <a:r>
              <a:rPr sz="1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фильтры</a:t>
            </a:r>
            <a:endParaRPr sz="1800" b="1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Добавить</a:t>
            </a:r>
            <a:r>
              <a:rPr sz="14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выбор</a:t>
            </a:r>
            <a:r>
              <a:rPr sz="14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даты</a:t>
            </a:r>
            <a:r>
              <a:rPr sz="14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и </a:t>
            </a:r>
            <a:r>
              <a:rPr sz="14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типа</a:t>
            </a:r>
            <a:r>
              <a:rPr sz="14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хранения</a:t>
            </a:r>
            <a:r>
              <a:rPr sz="14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рядом</a:t>
            </a:r>
            <a:r>
              <a:rPr sz="14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со</a:t>
            </a:r>
            <a:r>
              <a:rPr sz="14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строкой</a:t>
            </a:r>
            <a:r>
              <a:rPr sz="14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поиска</a:t>
            </a:r>
            <a:r>
              <a:rPr sz="14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 </a:t>
            </a:r>
            <a:r>
              <a:rPr sz="14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Выгода</a:t>
            </a:r>
            <a:r>
              <a:rPr sz="14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: </a:t>
            </a:r>
            <a:r>
              <a:rPr sz="14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быстрее</a:t>
            </a:r>
            <a:r>
              <a:rPr sz="14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находится</a:t>
            </a:r>
            <a:r>
              <a:rPr sz="14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протокол</a:t>
            </a:r>
            <a:r>
              <a:rPr sz="14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встречи</a:t>
            </a:r>
            <a:r>
              <a:rPr sz="14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2" name="Text-Placeholder-16-13">
            <a:extLst>
              <a:ext uri="{FF2B5EF4-FFF2-40B4-BE49-F238E27FC236}">
                <a16:creationId xmlns:a16="http://schemas.microsoft.com/office/drawing/2014/main" id="{22E1AE56-4898-42C2-A8BF-811FA384489E}"/>
              </a:ext>
            </a:extLst>
          </p:cNvPr>
          <p:cNvSpPr>
            <a:spLocks noGrp="1"/>
          </p:cNvSpPr>
          <p:nvPr/>
        </p:nvSpPr>
        <p:spPr>
          <a:xfrm>
            <a:off x="8177879" y="3822668"/>
            <a:ext cx="3156109" cy="158629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Резервная</a:t>
            </a:r>
            <a:r>
              <a:rPr sz="1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копия</a:t>
            </a:r>
            <a:endParaRPr sz="1800" b="1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Добавить</a:t>
            </a:r>
            <a:r>
              <a:rPr sz="14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экспорт</a:t>
            </a:r>
            <a:r>
              <a:rPr sz="14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и, </a:t>
            </a:r>
            <a:r>
              <a:rPr sz="14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при</a:t>
            </a:r>
            <a:r>
              <a:rPr sz="14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необходимости</a:t>
            </a:r>
            <a:r>
              <a:rPr sz="14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, </a:t>
            </a:r>
            <a:r>
              <a:rPr sz="14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защищенную</a:t>
            </a:r>
            <a:r>
              <a:rPr sz="14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синхронизацию</a:t>
            </a:r>
            <a:r>
              <a:rPr sz="14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 </a:t>
            </a:r>
            <a:r>
              <a:rPr sz="14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Выгода</a:t>
            </a:r>
            <a:r>
              <a:rPr sz="14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: </a:t>
            </a:r>
            <a:r>
              <a:rPr sz="14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переносимость</a:t>
            </a:r>
            <a:r>
              <a:rPr sz="14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данных</a:t>
            </a:r>
            <a:r>
              <a:rPr sz="14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461064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-3-1">
            <a:extLst>
              <a:ext uri="{FF2B5EF4-FFF2-40B4-BE49-F238E27FC236}">
                <a16:creationId xmlns:a16="http://schemas.microsoft.com/office/drawing/2014/main" id="{AE716C0E-CA8D-4054-8A42-1DA725AF128A}"/>
              </a:ext>
            </a:extLst>
          </p:cNvPr>
          <p:cNvSpPr>
            <a:spLocks noGrp="1"/>
          </p:cNvSpPr>
          <p:nvPr/>
        </p:nvSpPr>
        <p:spPr>
          <a:xfrm>
            <a:off x="393668" y="1738789"/>
            <a:ext cx="9448800" cy="249145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Прототип</a:t>
            </a:r>
            <a:r>
              <a:rPr sz="54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5400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готов</a:t>
            </a:r>
            <a:r>
              <a:rPr sz="54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к </a:t>
            </a:r>
            <a:r>
              <a:rPr sz="5400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очному</a:t>
            </a:r>
            <a:r>
              <a:rPr sz="54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5400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тесту</a:t>
            </a:r>
            <a:endParaRPr sz="5400" b="1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Subtitle-4-2">
            <a:extLst>
              <a:ext uri="{FF2B5EF4-FFF2-40B4-BE49-F238E27FC236}">
                <a16:creationId xmlns:a16="http://schemas.microsoft.com/office/drawing/2014/main" id="{B8CD7CA7-E9F9-42E0-A338-2B558A85D9EA}"/>
              </a:ext>
            </a:extLst>
          </p:cNvPr>
          <p:cNvSpPr>
            <a:spLocks noGrp="1"/>
          </p:cNvSpPr>
          <p:nvPr/>
        </p:nvSpPr>
        <p:spPr>
          <a:xfrm>
            <a:off x="393668" y="4973288"/>
            <a:ext cx="3568732" cy="108023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CRUD и </a:t>
            </a:r>
            <a:r>
              <a:rPr sz="18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поиск</a:t>
            </a:r>
            <a:r>
              <a:rPr sz="18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реализованы</a:t>
            </a:r>
            <a:r>
              <a:rPr lang="ru-RU" sz="18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  <a:endParaRPr sz="1875" b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Данные</a:t>
            </a:r>
            <a:r>
              <a:rPr sz="18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хранятся</a:t>
            </a:r>
            <a:r>
              <a:rPr sz="18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локально</a:t>
            </a:r>
            <a:r>
              <a:rPr lang="ru-RU" sz="18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  <a:endParaRPr sz="1875" b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Следующий</a:t>
            </a:r>
            <a:r>
              <a:rPr sz="18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шаг</a:t>
            </a:r>
            <a:r>
              <a:rPr sz="18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ru-RU" sz="18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–</a:t>
            </a:r>
            <a:r>
              <a:rPr sz="18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ru-RU" sz="18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тест на </a:t>
            </a:r>
            <a:r>
              <a:rPr sz="18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3–5 </a:t>
            </a:r>
            <a:r>
              <a:rPr sz="18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реальных</a:t>
            </a:r>
            <a:r>
              <a:rPr sz="18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пользовател</a:t>
            </a:r>
            <a:r>
              <a:rPr lang="ru-RU" sz="18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ях</a:t>
            </a:r>
            <a:r>
              <a:rPr lang="ru-RU" sz="18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  <a:endParaRPr sz="1875" b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Subtitle-4-3">
            <a:extLst>
              <a:ext uri="{FF2B5EF4-FFF2-40B4-BE49-F238E27FC236}">
                <a16:creationId xmlns:a16="http://schemas.microsoft.com/office/drawing/2014/main" id="{8AED6CA2-9DC1-45B0-A12E-45238C6DBA74}"/>
              </a:ext>
            </a:extLst>
          </p:cNvPr>
          <p:cNvSpPr>
            <a:spLocks noGrp="1"/>
          </p:cNvSpPr>
          <p:nvPr/>
        </p:nvSpPr>
        <p:spPr>
          <a:xfrm>
            <a:off x="393668" y="392240"/>
            <a:ext cx="1612868" cy="649129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ИТОГ</a:t>
            </a:r>
          </a:p>
        </p:txBody>
      </p:sp>
    </p:spTree>
    <p:extLst>
      <p:ext uri="{BB962C8B-B14F-4D97-AF65-F5344CB8AC3E}">
        <p14:creationId xmlns:p14="http://schemas.microsoft.com/office/powerpoint/2010/main" val="82171998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231</Words>
  <DocSecurity>0</DocSecurity>
  <PresentationFormat>Широкоэкранный</PresentationFormat>
  <Paragraphs>39</Paragraphs>
  <Slides>5</Slides>
  <Notes>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8" baseType="lpstr">
      <vt:lpstr>Arial</vt:lpstr>
      <vt:lpstr>Calibri</vt:lpstr>
      <vt:lpstr>ChatGPT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2026-08-20T09:17:14Z</dcterms:created>
  <dcterms:modified xsi:type="dcterms:W3CDTF">2026-10-04T10:18:38Z</dcterms:modified>
</cp:coreProperties>
</file>